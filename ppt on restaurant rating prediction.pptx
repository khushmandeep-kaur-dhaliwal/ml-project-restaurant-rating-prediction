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9D7D257-2744-48C6-81F3-9EA0B066F6E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6A550CE-D5A9-4450-BCEE-28EDD2EA427D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81200"/>
            <a:ext cx="7406640" cy="147218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Title:</a:t>
            </a:r>
            <a:r>
              <a:rPr lang="en-US" dirty="0"/>
              <a:t> Restaurant Rating Prediction using Machine </a:t>
            </a:r>
            <a:r>
              <a:rPr lang="en-US" dirty="0" smtClean="0"/>
              <a:t>Learning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3886200"/>
            <a:ext cx="7406640" cy="1752600"/>
          </a:xfrm>
        </p:spPr>
        <p:txBody>
          <a:bodyPr>
            <a:normAutofit/>
          </a:bodyPr>
          <a:lstStyle/>
          <a:p>
            <a:r>
              <a:rPr lang="en-US" b="1" dirty="0" smtClean="0"/>
              <a:t>Presented </a:t>
            </a:r>
            <a:r>
              <a:rPr lang="en-US" b="1" dirty="0"/>
              <a:t>by:</a:t>
            </a:r>
            <a:r>
              <a:rPr lang="en-US" dirty="0"/>
              <a:t> </a:t>
            </a:r>
            <a:r>
              <a:rPr lang="en-US" dirty="0" err="1" smtClean="0"/>
              <a:t>Jagdish</a:t>
            </a:r>
            <a:r>
              <a:rPr lang="en-US" dirty="0" smtClean="0"/>
              <a:t> </a:t>
            </a:r>
            <a:r>
              <a:rPr lang="en-US" dirty="0" err="1" smtClean="0"/>
              <a:t>Kaur</a:t>
            </a:r>
            <a:r>
              <a:rPr lang="en-US" dirty="0" smtClean="0"/>
              <a:t> (72510781)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dirty="0" err="1" smtClean="0"/>
              <a:t>Jasmeen</a:t>
            </a:r>
            <a:r>
              <a:rPr lang="en-US" dirty="0" smtClean="0"/>
              <a:t> </a:t>
            </a:r>
            <a:r>
              <a:rPr lang="en-US" dirty="0" err="1" smtClean="0"/>
              <a:t>Kaur</a:t>
            </a:r>
            <a:r>
              <a:rPr lang="en-US" dirty="0" smtClean="0"/>
              <a:t> (72510182)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Machine Learning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6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498080" cy="4800600"/>
          </a:xfrm>
        </p:spPr>
        <p:txBody>
          <a:bodyPr/>
          <a:lstStyle/>
          <a:p>
            <a:r>
              <a:rPr lang="en-US" dirty="0"/>
              <a:t>Restaurant ratings influence customer decisions </a:t>
            </a:r>
            <a:endParaRPr lang="en-US" dirty="0" smtClean="0"/>
          </a:p>
          <a:p>
            <a:r>
              <a:rPr lang="en-US" dirty="0" smtClean="0"/>
              <a:t>Online </a:t>
            </a:r>
            <a:r>
              <a:rPr lang="en-US" dirty="0"/>
              <a:t>platforms collect large amounts of review data </a:t>
            </a:r>
            <a:endParaRPr lang="en-US" dirty="0" smtClean="0"/>
          </a:p>
          <a:p>
            <a:r>
              <a:rPr lang="en-US" dirty="0" smtClean="0"/>
              <a:t>Manual </a:t>
            </a:r>
            <a:r>
              <a:rPr lang="en-US" dirty="0"/>
              <a:t>analysis is difficult </a:t>
            </a:r>
            <a:endParaRPr lang="en-US" dirty="0" smtClean="0"/>
          </a:p>
          <a:p>
            <a:r>
              <a:rPr lang="en-US" dirty="0" smtClean="0"/>
              <a:t>Machine </a:t>
            </a:r>
            <a:r>
              <a:rPr lang="en-US" dirty="0"/>
              <a:t>Learning helps automate prediction</a:t>
            </a:r>
          </a:p>
        </p:txBody>
      </p:sp>
    </p:spTree>
    <p:extLst>
      <p:ext uri="{BB962C8B-B14F-4D97-AF65-F5344CB8AC3E}">
        <p14:creationId xmlns:p14="http://schemas.microsoft.com/office/powerpoint/2010/main" val="2413633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-76200"/>
            <a:ext cx="7498080" cy="11430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028700"/>
            <a:ext cx="7679411" cy="4800600"/>
          </a:xfrm>
        </p:spPr>
        <p:txBody>
          <a:bodyPr>
            <a:normAutofit/>
          </a:bodyPr>
          <a:lstStyle/>
          <a:p>
            <a:r>
              <a:rPr lang="en-US" sz="2000" dirty="0"/>
              <a:t>Predict restaurant ratings based on features </a:t>
            </a:r>
            <a:r>
              <a:rPr lang="en-US" sz="2000" dirty="0" err="1"/>
              <a:t>Features</a:t>
            </a:r>
            <a:r>
              <a:rPr lang="en-US" sz="2000" dirty="0"/>
              <a:t> include: </a:t>
            </a:r>
            <a:endParaRPr lang="en-US" sz="2000" dirty="0" smtClean="0"/>
          </a:p>
          <a:p>
            <a:pPr marL="82296" indent="0">
              <a:buNone/>
            </a:pPr>
            <a:r>
              <a:rPr lang="en-US" sz="2000" dirty="0" smtClean="0"/>
              <a:t>Booking </a:t>
            </a:r>
            <a:endParaRPr lang="en-US" sz="2000" dirty="0"/>
          </a:p>
          <a:p>
            <a:pPr marL="82296" indent="0">
              <a:buNone/>
            </a:pPr>
            <a:r>
              <a:rPr lang="en-US" sz="2000" dirty="0"/>
              <a:t>Cuisine </a:t>
            </a:r>
            <a:endParaRPr lang="en-US" sz="2000" dirty="0" smtClean="0"/>
          </a:p>
          <a:p>
            <a:pPr marL="82296" indent="0">
              <a:buNone/>
            </a:pPr>
            <a:r>
              <a:rPr lang="en-US" sz="2000" dirty="0" smtClean="0"/>
              <a:t>Price </a:t>
            </a:r>
            <a:r>
              <a:rPr lang="en-US" sz="2000" dirty="0"/>
              <a:t>range </a:t>
            </a:r>
          </a:p>
          <a:p>
            <a:pPr marL="82296" indent="0">
              <a:buNone/>
            </a:pPr>
            <a:r>
              <a:rPr lang="en-US" sz="2000" dirty="0"/>
              <a:t>Online delivery availability </a:t>
            </a:r>
          </a:p>
          <a:p>
            <a:r>
              <a:rPr lang="en-US" sz="2000" dirty="0"/>
              <a:t>Goal: Build an accurate prediction model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7620000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46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828800"/>
            <a:ext cx="7498080" cy="4800600"/>
          </a:xfrm>
        </p:spPr>
        <p:txBody>
          <a:bodyPr/>
          <a:lstStyle/>
          <a:p>
            <a:r>
              <a:rPr lang="en-US" dirty="0"/>
              <a:t>Analyze restaurant dataset </a:t>
            </a:r>
            <a:endParaRPr lang="en-US" dirty="0" smtClean="0"/>
          </a:p>
          <a:p>
            <a:r>
              <a:rPr lang="en-US" dirty="0" smtClean="0"/>
              <a:t>Perform </a:t>
            </a:r>
            <a:r>
              <a:rPr lang="en-US" dirty="0"/>
              <a:t>data preprocessing </a:t>
            </a:r>
            <a:endParaRPr lang="en-US" dirty="0" smtClean="0"/>
          </a:p>
          <a:p>
            <a:r>
              <a:rPr lang="en-US" dirty="0" smtClean="0"/>
              <a:t>Apply </a:t>
            </a:r>
            <a:r>
              <a:rPr lang="en-US" dirty="0"/>
              <a:t>Machine Learning </a:t>
            </a:r>
            <a:r>
              <a:rPr lang="en-US" dirty="0" smtClean="0"/>
              <a:t>algorithms</a:t>
            </a:r>
          </a:p>
          <a:p>
            <a:r>
              <a:rPr lang="en-US" dirty="0" smtClean="0"/>
              <a:t>Evaluate </a:t>
            </a:r>
            <a:r>
              <a:rPr lang="en-US" dirty="0"/>
              <a:t>model performance </a:t>
            </a:r>
            <a:endParaRPr lang="en-US" dirty="0" smtClean="0"/>
          </a:p>
          <a:p>
            <a:r>
              <a:rPr lang="en-US" dirty="0" smtClean="0"/>
              <a:t>Predict </a:t>
            </a:r>
            <a:r>
              <a:rPr lang="en-US" dirty="0"/>
              <a:t>ratings for new </a:t>
            </a:r>
            <a:r>
              <a:rPr lang="en-US" dirty="0" smtClean="0"/>
              <a:t>restaurants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76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values </a:t>
            </a:r>
            <a:endParaRPr lang="en-US" dirty="0" smtClean="0"/>
          </a:p>
          <a:p>
            <a:r>
              <a:rPr lang="en-US" dirty="0" smtClean="0"/>
              <a:t>Encoding </a:t>
            </a:r>
            <a:r>
              <a:rPr lang="en-US" dirty="0"/>
              <a:t>categorical variables </a:t>
            </a:r>
            <a:endParaRPr lang="en-US" dirty="0" smtClean="0"/>
          </a:p>
          <a:p>
            <a:r>
              <a:rPr lang="en-US" dirty="0" smtClean="0"/>
              <a:t>Feature selection</a:t>
            </a:r>
          </a:p>
          <a:p>
            <a:r>
              <a:rPr lang="en-US" dirty="0" smtClean="0"/>
              <a:t> </a:t>
            </a:r>
            <a:r>
              <a:rPr lang="en-US" dirty="0"/>
              <a:t>Removing duplicates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normalization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390993"/>
            <a:ext cx="7315200" cy="21622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4440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Distribution of ratings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popular cuisines </a:t>
            </a:r>
            <a:endParaRPr lang="en-US" dirty="0" smtClean="0"/>
          </a:p>
          <a:p>
            <a:r>
              <a:rPr lang="en-US" dirty="0" smtClean="0"/>
              <a:t>Impact </a:t>
            </a:r>
            <a:r>
              <a:rPr lang="en-US" dirty="0"/>
              <a:t>of cost on </a:t>
            </a:r>
            <a:r>
              <a:rPr lang="en-US" dirty="0" smtClean="0"/>
              <a:t>rating</a:t>
            </a:r>
          </a:p>
          <a:p>
            <a:r>
              <a:rPr lang="en-US" dirty="0" smtClean="0"/>
              <a:t> </a:t>
            </a:r>
            <a:r>
              <a:rPr lang="en-US" dirty="0"/>
              <a:t>Location-wise rating trends </a:t>
            </a:r>
            <a:endParaRPr lang="en-US" dirty="0" smtClean="0"/>
          </a:p>
          <a:p>
            <a:r>
              <a:rPr lang="en-US" dirty="0" smtClean="0"/>
              <a:t>Visualization </a:t>
            </a:r>
            <a:r>
              <a:rPr lang="en-US" dirty="0"/>
              <a:t>tools: </a:t>
            </a:r>
            <a:endParaRPr lang="en-US" dirty="0" smtClean="0"/>
          </a:p>
          <a:p>
            <a:pPr marL="82296" indent="0">
              <a:buNone/>
            </a:pPr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endParaRPr lang="en-US" dirty="0"/>
          </a:p>
          <a:p>
            <a:pPr marL="82296" indent="0">
              <a:buNone/>
            </a:pPr>
            <a:r>
              <a:rPr lang="en-US" dirty="0" err="1"/>
              <a:t>Seaborn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343400"/>
            <a:ext cx="5045075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420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</a:t>
            </a:r>
            <a:r>
              <a:rPr lang="en-US" dirty="0" smtClean="0"/>
              <a:t>Engineering and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76400"/>
            <a:ext cx="7498080" cy="4800600"/>
          </a:xfrm>
        </p:spPr>
        <p:txBody>
          <a:bodyPr/>
          <a:lstStyle/>
          <a:p>
            <a:r>
              <a:rPr lang="en-US" dirty="0"/>
              <a:t>Convert text data to numerical </a:t>
            </a:r>
            <a:r>
              <a:rPr lang="en-US" dirty="0" smtClean="0"/>
              <a:t>form</a:t>
            </a:r>
          </a:p>
          <a:p>
            <a:r>
              <a:rPr lang="en-US" dirty="0" smtClean="0"/>
              <a:t>Create </a:t>
            </a:r>
            <a:r>
              <a:rPr lang="en-US" dirty="0"/>
              <a:t>new features: Cost per person </a:t>
            </a:r>
          </a:p>
          <a:p>
            <a:r>
              <a:rPr lang="en-US" dirty="0"/>
              <a:t>Cuisine categories </a:t>
            </a:r>
          </a:p>
          <a:p>
            <a:r>
              <a:rPr lang="en-US" dirty="0"/>
              <a:t>Label encoding / One-hot encoding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495800"/>
            <a:ext cx="6233214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773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Regression</a:t>
            </a:r>
          </a:p>
          <a:p>
            <a:r>
              <a:rPr lang="en-US" dirty="0" smtClean="0"/>
              <a:t>Libraries used -: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816" y="2819400"/>
            <a:ext cx="7182116" cy="3205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089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dataset: Training set (80%) </a:t>
            </a:r>
          </a:p>
          <a:p>
            <a:r>
              <a:rPr lang="en-US" dirty="0"/>
              <a:t>Testing set (20%) </a:t>
            </a:r>
          </a:p>
          <a:p>
            <a:r>
              <a:rPr lang="en-US" dirty="0"/>
              <a:t>Train models on training data </a:t>
            </a:r>
            <a:endParaRPr lang="en-US" dirty="0" smtClean="0"/>
          </a:p>
          <a:p>
            <a:r>
              <a:rPr lang="en-US" dirty="0" smtClean="0"/>
              <a:t>Tune </a:t>
            </a:r>
            <a:r>
              <a:rPr lang="en-US" dirty="0" err="1"/>
              <a:t>hyperparameters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312298"/>
            <a:ext cx="62484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79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498080" cy="114300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714488" cy="4800600"/>
          </a:xfrm>
        </p:spPr>
        <p:txBody>
          <a:bodyPr/>
          <a:lstStyle/>
          <a:p>
            <a:r>
              <a:rPr lang="en-US" dirty="0"/>
              <a:t>Evaluation metrics: Mean Absolute Error (MAE) </a:t>
            </a:r>
          </a:p>
          <a:p>
            <a:r>
              <a:rPr lang="en-US" dirty="0"/>
              <a:t>Mean Squared Error (MSE) </a:t>
            </a:r>
          </a:p>
          <a:p>
            <a:r>
              <a:rPr lang="en-US" dirty="0"/>
              <a:t>R² </a:t>
            </a:r>
            <a:r>
              <a:rPr lang="en-US" dirty="0" smtClean="0"/>
              <a:t>Score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29000"/>
            <a:ext cx="6911975" cy="306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722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performing model: (e.g., </a:t>
            </a:r>
            <a:r>
              <a:rPr lang="en-US" dirty="0" smtClean="0"/>
              <a:t>Linear Regression) </a:t>
            </a:r>
            <a:endParaRPr lang="en-US" dirty="0"/>
          </a:p>
          <a:p>
            <a:r>
              <a:rPr lang="en-US" dirty="0"/>
              <a:t>Achieved accuracy: </a:t>
            </a:r>
            <a:r>
              <a:rPr lang="en-US" dirty="0" smtClean="0"/>
              <a:t>99% </a:t>
            </a:r>
            <a:endParaRPr lang="en-US" dirty="0"/>
          </a:p>
          <a:p>
            <a:r>
              <a:rPr lang="en-US" dirty="0"/>
              <a:t>Observations: </a:t>
            </a:r>
          </a:p>
          <a:p>
            <a:pPr lvl="1"/>
            <a:r>
              <a:rPr lang="en-US" dirty="0"/>
              <a:t>Cost and votes strongly affect rating </a:t>
            </a:r>
          </a:p>
          <a:p>
            <a:pPr lvl="1"/>
            <a:r>
              <a:rPr lang="en-US" dirty="0"/>
              <a:t>Location also plays a role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14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609600"/>
            <a:ext cx="7498080" cy="1143000"/>
          </a:xfrm>
        </p:spPr>
        <p:txBody>
          <a:bodyPr>
            <a:normAutofit/>
          </a:bodyPr>
          <a:lstStyle/>
          <a:p>
            <a:r>
              <a:rPr lang="en-US" sz="6600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09800"/>
            <a:ext cx="7498080" cy="4800600"/>
          </a:xfrm>
        </p:spPr>
        <p:txBody>
          <a:bodyPr/>
          <a:lstStyle/>
          <a:p>
            <a:r>
              <a:rPr lang="en-US" dirty="0"/>
              <a:t>Helps customers choose restaurants </a:t>
            </a:r>
          </a:p>
          <a:p>
            <a:r>
              <a:rPr lang="en-US" dirty="0"/>
              <a:t>Helps businesses improve services </a:t>
            </a:r>
          </a:p>
          <a:p>
            <a:r>
              <a:rPr lang="en-US" dirty="0"/>
              <a:t>Useful for food delivery platforms 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96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can effectively predict restaurant ratings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preprocessing is crucial </a:t>
            </a:r>
            <a:endParaRPr lang="en-US" dirty="0" smtClean="0"/>
          </a:p>
          <a:p>
            <a:r>
              <a:rPr lang="en-US" dirty="0" smtClean="0"/>
              <a:t>Linear Regression performs </a:t>
            </a:r>
            <a:r>
              <a:rPr lang="en-US" dirty="0"/>
              <a:t>well </a:t>
            </a:r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dirty="0"/>
              <a:t>demonstrates real-world ML application</a:t>
            </a:r>
          </a:p>
        </p:txBody>
      </p:sp>
    </p:spTree>
    <p:extLst>
      <p:ext uri="{BB962C8B-B14F-4D97-AF65-F5344CB8AC3E}">
        <p14:creationId xmlns:p14="http://schemas.microsoft.com/office/powerpoint/2010/main" val="3128613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2514600"/>
            <a:ext cx="4114800" cy="114300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Thank 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071142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</TotalTime>
  <Words>269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Solstice</vt:lpstr>
      <vt:lpstr>Title: Restaurant Rating Prediction using Machine Learning  </vt:lpstr>
      <vt:lpstr>Introduction</vt:lpstr>
      <vt:lpstr>Problem Statement</vt:lpstr>
      <vt:lpstr>Objectives</vt:lpstr>
      <vt:lpstr>Data Preprocessing</vt:lpstr>
      <vt:lpstr>Exploratory Data Analysis (EDA)</vt:lpstr>
      <vt:lpstr>Feature Engineering and selection</vt:lpstr>
      <vt:lpstr>Machine Learning Algorithms Used</vt:lpstr>
      <vt:lpstr>Model Training</vt:lpstr>
      <vt:lpstr>Model Evaluation</vt:lpstr>
      <vt:lpstr>Results</vt:lpstr>
      <vt:lpstr>Applications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Restaurant Rating Prediction using Machine Learning</dc:title>
  <dc:creator>acer</dc:creator>
  <cp:lastModifiedBy>acer</cp:lastModifiedBy>
  <cp:revision>3</cp:revision>
  <dcterms:created xsi:type="dcterms:W3CDTF">2026-04-28T00:25:06Z</dcterms:created>
  <dcterms:modified xsi:type="dcterms:W3CDTF">2026-04-28T00:50:14Z</dcterms:modified>
</cp:coreProperties>
</file>